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12"/>
  </p:notesMasterIdLst>
  <p:sldIdLst>
    <p:sldId id="256" r:id="rId2"/>
    <p:sldId id="260" r:id="rId3"/>
    <p:sldId id="261" r:id="rId4"/>
    <p:sldId id="262" r:id="rId5"/>
    <p:sldId id="273" r:id="rId6"/>
    <p:sldId id="276" r:id="rId7"/>
    <p:sldId id="277" r:id="rId8"/>
    <p:sldId id="278" r:id="rId9"/>
    <p:sldId id="268" r:id="rId10"/>
    <p:sldId id="272" r:id="rId11"/>
  </p:sldIdLst>
  <p:sldSz cx="9144000" cy="5143500" type="screen16x9"/>
  <p:notesSz cx="6858000" cy="9144000"/>
  <p:embeddedFontLst>
    <p:embeddedFont>
      <p:font typeface="Arial Narrow" panose="020B060602020203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ego antonio Rivero carrasco" initials="DR" lastIdx="1" clrIdx="0">
    <p:extLst>
      <p:ext uri="{19B8F6BF-5375-455C-9EA6-DF929625EA0E}">
        <p15:presenceInfo xmlns:p15="http://schemas.microsoft.com/office/powerpoint/2012/main" userId="2701925f2262c7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5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BC50D8-00C2-4B55-89BD-E62906BFA9D7}">
  <a:tblStyle styleId="{C4BC50D8-00C2-4B55-89BD-E62906BFA9D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99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9-03T17:55:49.609" idx="1">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418376888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 name="Google Shape;3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6217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0781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2110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9" name="Google Shape;49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35591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3356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8182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8903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2609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1" name="Google Shape;65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8677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2065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0" y="0"/>
            <a:ext cx="9144000" cy="5143524"/>
          </a:xfrm>
          <a:prstGeom prst="rect">
            <a:avLst/>
          </a:prstGeom>
          <a:noFill/>
          <a:ln>
            <a:noFill/>
          </a:ln>
        </p:spPr>
      </p:pic>
      <p:sp>
        <p:nvSpPr>
          <p:cNvPr id="11" name="Google Shape;11;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2">
  <p:cSld name="TITLE_3">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a:stretch/>
        </p:blipFill>
        <p:spPr>
          <a:xfrm>
            <a:off x="0" y="0"/>
            <a:ext cx="9144000" cy="514350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cSld name="TITLE_4">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5"/>
          <p:cNvPicPr preferRelativeResize="0"/>
          <p:nvPr/>
        </p:nvPicPr>
        <p:blipFill rotWithShape="1">
          <a:blip r:embed="rId2">
            <a:alphaModFix/>
          </a:blip>
          <a:srcRect/>
          <a:stretch/>
        </p:blipFill>
        <p:spPr>
          <a:xfrm>
            <a:off x="0" y="0"/>
            <a:ext cx="9144019" cy="51435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pic>
        <p:nvPicPr>
          <p:cNvPr id="25" name="Google Shape;25;p8"/>
          <p:cNvPicPr preferRelativeResize="0"/>
          <p:nvPr/>
        </p:nvPicPr>
        <p:blipFill rotWithShape="1">
          <a:blip r:embed="rId2">
            <a:alphaModFix/>
          </a:blip>
          <a:srcRect/>
          <a:stretch/>
        </p:blipFill>
        <p:spPr>
          <a:xfrm>
            <a:off x="0" y="0"/>
            <a:ext cx="9144005" cy="51435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título">
  <p:cSld name="TITLE_2">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9"/>
          <p:cNvPicPr preferRelativeResize="0"/>
          <p:nvPr/>
        </p:nvPicPr>
        <p:blipFill rotWithShape="1">
          <a:blip r:embed="rId2">
            <a:alphaModFix/>
          </a:blip>
          <a:srcRect/>
          <a:stretch/>
        </p:blipFill>
        <p:spPr>
          <a:xfrm>
            <a:off x="0" y="0"/>
            <a:ext cx="9144000" cy="514350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500"/>
              <a:buFont typeface="Calibri"/>
              <a:buNone/>
              <a:defRPr sz="35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Calibri"/>
              <a:buChar char="●"/>
              <a:defRPr sz="1800" b="0" i="0" u="none" strike="noStrike" cap="none">
                <a:solidFill>
                  <a:schemeClr val="dk2"/>
                </a:solidFill>
                <a:latin typeface="Calibri"/>
                <a:ea typeface="Calibri"/>
                <a:cs typeface="Calibri"/>
                <a:sym typeface="Calibri"/>
              </a:defRPr>
            </a:lvl1pPr>
            <a:lvl2pPr marL="914400" marR="0" lvl="1"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2pPr>
            <a:lvl3pPr marL="1371600" marR="0" lvl="2"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3pPr>
            <a:lvl4pPr marL="1828800" marR="0" lvl="3"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4pPr>
            <a:lvl5pPr marL="2286000" marR="0" lvl="4"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5pPr>
            <a:lvl6pPr marL="2743200" marR="0" lvl="5"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6pPr>
            <a:lvl7pPr marL="3200400" marR="0" lvl="6"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7pPr>
            <a:lvl8pPr marL="3657600" marR="0" lvl="7"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8pPr>
            <a:lvl9pPr marL="4114800" marR="0" lvl="8" indent="-317500" algn="l" rtl="0">
              <a:lnSpc>
                <a:spcPct val="115000"/>
              </a:lnSpc>
              <a:spcBef>
                <a:spcPts val="0"/>
              </a:spcBef>
              <a:spcAft>
                <a:spcPts val="0"/>
              </a:spcAft>
              <a:buClr>
                <a:schemeClr val="dk2"/>
              </a:buClr>
              <a:buSzPts val="1400"/>
              <a:buFont typeface="Calibri"/>
              <a:buChar char="■"/>
              <a:defRPr sz="1400" b="0" i="0" u="none" strike="noStrike" cap="none">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package" Target="../embeddings/Microsoft_Excel_Worksheet.xlsx"/><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
        <p:cNvGrpSpPr/>
        <p:nvPr/>
      </p:nvGrpSpPr>
      <p:grpSpPr>
        <a:xfrm>
          <a:off x="0" y="0"/>
          <a:ext cx="0" cy="0"/>
          <a:chOff x="0" y="0"/>
          <a:chExt cx="0" cy="0"/>
        </a:xfrm>
      </p:grpSpPr>
      <p:sp>
        <p:nvSpPr>
          <p:cNvPr id="5" name="CuadroTexto 5">
            <a:extLst>
              <a:ext uri="{FF2B5EF4-FFF2-40B4-BE49-F238E27FC236}">
                <a16:creationId xmlns:a16="http://schemas.microsoft.com/office/drawing/2014/main" id="{37AC507C-8FA4-802C-085F-69A6CF4CEA2A}"/>
              </a:ext>
            </a:extLst>
          </p:cNvPr>
          <p:cNvSpPr txBox="1"/>
          <p:nvPr/>
        </p:nvSpPr>
        <p:spPr>
          <a:xfrm>
            <a:off x="3622536" y="1043491"/>
            <a:ext cx="3379086" cy="1815882"/>
          </a:xfrm>
          <a:prstGeom prst="rect">
            <a:avLst/>
          </a:prstGeom>
          <a:noFill/>
          <a:ln>
            <a:noFill/>
          </a:ln>
        </p:spPr>
        <p:txBody>
          <a:bodyPr wrap="square">
            <a:spAutoFit/>
          </a:bodyPr>
          <a:lstStyle/>
          <a:p>
            <a:pPr>
              <a:buClrTx/>
              <a:defRPr/>
            </a:pPr>
            <a:r>
              <a:rPr lang="es-ES" sz="2800" b="1" dirty="0">
                <a:solidFill>
                  <a:srgbClr val="FFFFFF"/>
                </a:solidFill>
              </a:rPr>
              <a:t>Automatización para la mejora de asistencia y seguridad</a:t>
            </a:r>
          </a:p>
        </p:txBody>
      </p:sp>
      <p:sp>
        <p:nvSpPr>
          <p:cNvPr id="7" name="CuadroTexto 7">
            <a:extLst>
              <a:ext uri="{FF2B5EF4-FFF2-40B4-BE49-F238E27FC236}">
                <a16:creationId xmlns:a16="http://schemas.microsoft.com/office/drawing/2014/main" id="{5D7D8A4E-9824-9DA9-EEF1-826A7FF5A812}"/>
              </a:ext>
            </a:extLst>
          </p:cNvPr>
          <p:cNvSpPr txBox="1"/>
          <p:nvPr/>
        </p:nvSpPr>
        <p:spPr>
          <a:xfrm>
            <a:off x="1397628" y="3879947"/>
            <a:ext cx="6817684" cy="1015663"/>
          </a:xfrm>
          <a:prstGeom prst="rect">
            <a:avLst/>
          </a:prstGeom>
          <a:noFill/>
          <a:ln>
            <a:no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200" b="1" i="0" u="none" strike="noStrike" kern="0" cap="none" spc="800" normalizeH="0" baseline="0" noProof="0" dirty="0">
                <a:ln>
                  <a:noFill/>
                </a:ln>
                <a:solidFill>
                  <a:srgbClr val="FFFFFF"/>
                </a:solidFill>
                <a:effectLst/>
                <a:uLnTx/>
                <a:uFillTx/>
              </a:rPr>
              <a:t>Institución Educativa</a:t>
            </a:r>
            <a:r>
              <a:rPr kumimoji="0" lang="es-ES" sz="1200" b="1" i="0" u="none" strike="noStrike" kern="0" cap="none" spc="800" normalizeH="0" noProof="0" dirty="0">
                <a:ln>
                  <a:noFill/>
                </a:ln>
                <a:solidFill>
                  <a:srgbClr val="FFFFFF"/>
                </a:solidFill>
                <a:effectLst/>
                <a:uLnTx/>
                <a:uFillTx/>
              </a:rPr>
              <a:t> San Antonio De Prado</a:t>
            </a:r>
            <a:r>
              <a:rPr kumimoji="0" lang="es-ES" sz="1200" b="1" i="0" u="none" strike="noStrike" kern="0" cap="none" spc="800" normalizeH="0" baseline="0" noProof="0" dirty="0">
                <a:ln>
                  <a:noFill/>
                </a:ln>
                <a:solidFill>
                  <a:srgbClr val="FFFFFF"/>
                </a:solidFill>
                <a:effectLst/>
                <a:uLnTx/>
                <a:uFillTx/>
              </a:rPr>
              <a:t> </a:t>
            </a:r>
            <a:endParaRPr kumimoji="0" lang="es-ES" sz="1200" b="1" i="0" u="none" strike="noStrike" kern="0" cap="none" spc="800" normalizeH="0" baseline="0" noProof="0" dirty="0">
              <a:ln>
                <a:noFill/>
              </a:ln>
              <a:solidFill>
                <a:srgbClr val="FF0000"/>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200" b="1" i="0" u="none" strike="noStrike" kern="0" cap="none" spc="800" normalizeH="0" baseline="0" noProof="0" dirty="0">
                <a:ln>
                  <a:noFill/>
                </a:ln>
                <a:solidFill>
                  <a:srgbClr val="FFFFFF"/>
                </a:solidFill>
                <a:effectLst/>
                <a:uLnTx/>
                <a:uFillTx/>
              </a:rPr>
              <a:t>Programa de formación: Técnico Auxiliar </a:t>
            </a:r>
            <a:r>
              <a:rPr lang="es-ES" sz="1200" b="1" spc="800" dirty="0">
                <a:solidFill>
                  <a:srgbClr val="FFFFFF"/>
                </a:solidFill>
              </a:rPr>
              <a:t>D</a:t>
            </a:r>
            <a:r>
              <a:rPr kumimoji="0" lang="es-ES" sz="1200" b="1" i="0" u="none" strike="noStrike" kern="0" cap="none" spc="800" normalizeH="0" baseline="0" noProof="0" dirty="0">
                <a:ln>
                  <a:noFill/>
                </a:ln>
                <a:solidFill>
                  <a:srgbClr val="FFFFFF"/>
                </a:solidFill>
                <a:effectLst/>
                <a:uLnTx/>
                <a:uFillTx/>
              </a:rPr>
              <a:t>e Diseño </a:t>
            </a:r>
            <a:r>
              <a:rPr lang="es-ES" sz="1200" b="1" spc="800" dirty="0">
                <a:solidFill>
                  <a:srgbClr val="FFFFFF"/>
                </a:solidFill>
              </a:rPr>
              <a:t>D</a:t>
            </a:r>
            <a:r>
              <a:rPr kumimoji="0" lang="es-ES" sz="1200" b="1" i="0" u="none" strike="noStrike" kern="0" cap="none" spc="800" normalizeH="0" baseline="0" noProof="0" dirty="0">
                <a:ln>
                  <a:noFill/>
                </a:ln>
                <a:solidFill>
                  <a:srgbClr val="FFFFFF"/>
                </a:solidFill>
                <a:effectLst/>
                <a:uLnTx/>
                <a:uFillTx/>
              </a:rPr>
              <a:t>e Software</a:t>
            </a:r>
            <a:endParaRPr kumimoji="0" lang="es-ES" sz="1200" b="1" i="0" u="none" strike="noStrike" kern="0" cap="none" spc="800" normalizeH="0" baseline="0" noProof="0" dirty="0">
              <a:ln>
                <a:noFill/>
              </a:ln>
              <a:solidFill>
                <a:srgbClr val="FF0000"/>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200" b="1" i="0" u="none" strike="noStrike" kern="0" cap="none" spc="800" normalizeH="0" baseline="0" noProof="0" dirty="0">
                <a:ln>
                  <a:noFill/>
                </a:ln>
                <a:solidFill>
                  <a:srgbClr val="FFFFFF"/>
                </a:solidFill>
                <a:effectLst/>
                <a:uLnTx/>
                <a:uFillTx/>
              </a:rPr>
              <a:t>Grado: 10°</a:t>
            </a:r>
            <a:endParaRPr kumimoji="0" lang="es-CO" sz="1200" b="1" i="0" u="none" strike="noStrike" kern="0" cap="none" spc="800" normalizeH="0" baseline="0" noProof="0" dirty="0">
              <a:ln>
                <a:noFill/>
              </a:ln>
              <a:solidFill>
                <a:srgbClr val="FFFFFF"/>
              </a:solidFill>
              <a:effectLst/>
              <a:uLnTx/>
              <a:uFillTx/>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7"/>
        <p:cNvGrpSpPr/>
        <p:nvPr/>
      </p:nvGrpSpPr>
      <p:grpSpPr>
        <a:xfrm>
          <a:off x="0" y="0"/>
          <a:ext cx="0" cy="0"/>
          <a:chOff x="0" y="0"/>
          <a:chExt cx="0" cy="0"/>
        </a:xfrm>
      </p:grpSpPr>
      <p:sp>
        <p:nvSpPr>
          <p:cNvPr id="2" name="Google Shape;94;p2">
            <a:extLst>
              <a:ext uri="{FF2B5EF4-FFF2-40B4-BE49-F238E27FC236}">
                <a16:creationId xmlns:a16="http://schemas.microsoft.com/office/drawing/2014/main" id="{E21A2A5D-0176-E205-C836-7C6BC73F3E26}"/>
              </a:ext>
            </a:extLst>
          </p:cNvPr>
          <p:cNvSpPr txBox="1"/>
          <p:nvPr/>
        </p:nvSpPr>
        <p:spPr>
          <a:xfrm>
            <a:off x="3825657" y="3294894"/>
            <a:ext cx="4832569"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0" i="0" u="none" strike="noStrike" cap="none" dirty="0">
                <a:solidFill>
                  <a:schemeClr val="lt1"/>
                </a:solidFill>
                <a:latin typeface="Calibri"/>
                <a:ea typeface="Calibri"/>
                <a:cs typeface="Calibri"/>
                <a:sym typeface="Calibri"/>
              </a:rPr>
              <a:t>PRESENTACIÓN DE PROPUESTA P</a:t>
            </a:r>
            <a:r>
              <a:rPr lang="en-US" sz="3200" dirty="0">
                <a:solidFill>
                  <a:schemeClr val="lt1"/>
                </a:solidFill>
                <a:latin typeface="Calibri"/>
                <a:ea typeface="Calibri"/>
                <a:cs typeface="Calibri"/>
                <a:sym typeface="Calibri"/>
              </a:rPr>
              <a:t>ROYECTO INTEGRADOR DE AULA -PIA-</a:t>
            </a:r>
            <a:endParaRPr sz="3200" b="0" i="0" u="none" strike="noStrike" cap="none" dirty="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4">
            <a:alphaModFix/>
          </a:blip>
          <a:srcRect/>
          <a:stretch/>
        </p:blipFill>
        <p:spPr>
          <a:xfrm>
            <a:off x="-302575" y="4522413"/>
            <a:ext cx="912176" cy="910874"/>
          </a:xfrm>
          <a:prstGeom prst="rect">
            <a:avLst/>
          </a:prstGeom>
          <a:noFill/>
          <a:ln>
            <a:noFill/>
          </a:ln>
        </p:spPr>
      </p:pic>
      <p:sp>
        <p:nvSpPr>
          <p:cNvPr id="494" name="Google Shape;494;p15"/>
          <p:cNvSpPr txBox="1"/>
          <p:nvPr/>
        </p:nvSpPr>
        <p:spPr>
          <a:xfrm>
            <a:off x="1689303" y="828372"/>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 sz="3400" dirty="0">
                <a:solidFill>
                  <a:srgbClr val="015583"/>
                </a:solidFill>
                <a:latin typeface="Calibri"/>
                <a:ea typeface="Calibri"/>
                <a:cs typeface="Calibri"/>
                <a:sym typeface="Calibri"/>
              </a:rPr>
              <a:t>PROBLEMA O </a:t>
            </a:r>
            <a:r>
              <a:rPr lang="es" sz="3400" b="1" dirty="0">
                <a:solidFill>
                  <a:srgbClr val="015583"/>
                </a:solidFill>
                <a:latin typeface="Calibri"/>
                <a:ea typeface="Calibri"/>
                <a:cs typeface="Calibri"/>
                <a:sym typeface="Calibri"/>
              </a:rPr>
              <a:t>NECESIDAD Y PREGUNTA PROBLEMATIZADORA</a:t>
            </a:r>
            <a:endParaRPr sz="3400" b="1" i="0" u="none" strike="noStrike" cap="none" dirty="0">
              <a:solidFill>
                <a:srgbClr val="015583"/>
              </a:solidFill>
              <a:latin typeface="Calibri"/>
              <a:ea typeface="Calibri"/>
              <a:cs typeface="Calibri"/>
              <a:sym typeface="Calibri"/>
            </a:endParaRPr>
          </a:p>
        </p:txBody>
      </p:sp>
      <p:pic>
        <p:nvPicPr>
          <p:cNvPr id="496" name="Google Shape;496;p15"/>
          <p:cNvPicPr preferRelativeResize="0"/>
          <p:nvPr/>
        </p:nvPicPr>
        <p:blipFill rotWithShape="1">
          <a:blip r:embed="rId5">
            <a:alphaModFix/>
          </a:blip>
          <a:srcRect/>
          <a:stretch/>
        </p:blipFill>
        <p:spPr>
          <a:xfrm>
            <a:off x="7937150" y="4654475"/>
            <a:ext cx="860705" cy="133450"/>
          </a:xfrm>
          <a:prstGeom prst="rect">
            <a:avLst/>
          </a:prstGeom>
          <a:noFill/>
          <a:ln>
            <a:noFill/>
          </a:ln>
        </p:spPr>
      </p:pic>
      <p:sp>
        <p:nvSpPr>
          <p:cNvPr id="2" name="Rectangle: Rounded Corners 1">
            <a:extLst>
              <a:ext uri="{FF2B5EF4-FFF2-40B4-BE49-F238E27FC236}">
                <a16:creationId xmlns:a16="http://schemas.microsoft.com/office/drawing/2014/main" id="{5ABA0067-1008-9E1F-979E-3E3D993318F5}"/>
              </a:ext>
            </a:extLst>
          </p:cNvPr>
          <p:cNvSpPr/>
          <p:nvPr/>
        </p:nvSpPr>
        <p:spPr>
          <a:xfrm>
            <a:off x="5474970" y="1501012"/>
            <a:ext cx="3333749" cy="3286912"/>
          </a:xfrm>
          <a:prstGeom prst="roundRect">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dirty="0"/>
              <a:t>¿Se debe mejorar la seguridad de la I.E. San Antonio De Prado? </a:t>
            </a:r>
            <a:endParaRPr lang="es-CO" sz="2800" dirty="0"/>
          </a:p>
        </p:txBody>
      </p:sp>
      <p:sp>
        <p:nvSpPr>
          <p:cNvPr id="4" name="Rectangle: Rounded Corners 3">
            <a:extLst>
              <a:ext uri="{FF2B5EF4-FFF2-40B4-BE49-F238E27FC236}">
                <a16:creationId xmlns:a16="http://schemas.microsoft.com/office/drawing/2014/main" id="{B6CB0351-3141-78A4-0D7E-7330B4109C7E}"/>
              </a:ext>
            </a:extLst>
          </p:cNvPr>
          <p:cNvSpPr/>
          <p:nvPr/>
        </p:nvSpPr>
        <p:spPr>
          <a:xfrm>
            <a:off x="335281" y="1499171"/>
            <a:ext cx="4008119" cy="3288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t>El problema que nosotros encontramos en la I.E. San Antonio De Prado es el hecho de que la seguridad no es tan grande como debería, haciendo que haya una posibilidad de infiltraciones dentro de la institución. </a:t>
            </a:r>
            <a:endParaRPr lang="es-CO"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3"/>
                                        </p:tgtEl>
                                        <p:attrNameLst>
                                          <p:attrName>style.visibility</p:attrName>
                                        </p:attrNameLst>
                                      </p:cBhvr>
                                      <p:to>
                                        <p:strVal val="visible"/>
                                      </p:to>
                                    </p:set>
                                    <p:animEffect transition="in" filter="fade">
                                      <p:cBhvr>
                                        <p:cTn id="7" dur="500"/>
                                        <p:tgtEl>
                                          <p:spTgt spid="493"/>
                                        </p:tgtEl>
                                      </p:cBhvr>
                                    </p:animEffect>
                                  </p:childTnLst>
                                </p:cTn>
                              </p:par>
                              <p:par>
                                <p:cTn id="8" presetID="10" presetClass="entr" presetSubtype="0" fill="hold" nodeType="withEffect">
                                  <p:stCondLst>
                                    <p:cond delay="0"/>
                                  </p:stCondLst>
                                  <p:childTnLst>
                                    <p:set>
                                      <p:cBhvr>
                                        <p:cTn id="9" dur="1" fill="hold">
                                          <p:stCondLst>
                                            <p:cond delay="0"/>
                                          </p:stCondLst>
                                        </p:cTn>
                                        <p:tgtEl>
                                          <p:spTgt spid="496"/>
                                        </p:tgtEl>
                                        <p:attrNameLst>
                                          <p:attrName>style.visibility</p:attrName>
                                        </p:attrNameLst>
                                      </p:cBhvr>
                                      <p:to>
                                        <p:strVal val="visible"/>
                                      </p:to>
                                    </p:set>
                                    <p:animEffect transition="in" filter="fade">
                                      <p:cBhvr>
                                        <p:cTn id="10" dur="500"/>
                                        <p:tgtEl>
                                          <p:spTgt spid="49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0"/>
        <p:cNvGrpSpPr/>
        <p:nvPr/>
      </p:nvGrpSpPr>
      <p:grpSpPr>
        <a:xfrm>
          <a:off x="0" y="0"/>
          <a:ext cx="0" cy="0"/>
          <a:chOff x="0" y="0"/>
          <a:chExt cx="0" cy="0"/>
        </a:xfrm>
      </p:grpSpPr>
      <p:sp>
        <p:nvSpPr>
          <p:cNvPr id="505" name="Google Shape;505;p16"/>
          <p:cNvSpPr txBox="1"/>
          <p:nvPr/>
        </p:nvSpPr>
        <p:spPr>
          <a:xfrm>
            <a:off x="1419225" y="150899"/>
            <a:ext cx="6092190" cy="1011537"/>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3400" b="0" i="0" u="none" strike="noStrike" cap="none" dirty="0">
                <a:solidFill>
                  <a:srgbClr val="015583"/>
                </a:solidFill>
                <a:latin typeface="Calibri"/>
                <a:ea typeface="Calibri"/>
                <a:cs typeface="Calibri"/>
                <a:sym typeface="Calibri"/>
              </a:rPr>
              <a:t>MARCO TEÓRICO Y </a:t>
            </a:r>
            <a:r>
              <a:rPr lang="es-ES" sz="3400" b="1" i="0" u="none" strike="noStrike" cap="none" dirty="0">
                <a:solidFill>
                  <a:srgbClr val="015583"/>
                </a:solidFill>
                <a:latin typeface="Calibri"/>
                <a:ea typeface="Calibri"/>
                <a:cs typeface="Calibri"/>
                <a:sym typeface="Calibri"/>
              </a:rPr>
              <a:t> ESTADO DEL ARTE</a:t>
            </a:r>
          </a:p>
        </p:txBody>
      </p:sp>
      <p:sp>
        <p:nvSpPr>
          <p:cNvPr id="7" name="Rectangle: Rounded Corners 6">
            <a:extLst>
              <a:ext uri="{FF2B5EF4-FFF2-40B4-BE49-F238E27FC236}">
                <a16:creationId xmlns:a16="http://schemas.microsoft.com/office/drawing/2014/main" id="{FDEF90EE-ED54-2218-D98F-697628A0B6F7}"/>
              </a:ext>
            </a:extLst>
          </p:cNvPr>
          <p:cNvSpPr/>
          <p:nvPr/>
        </p:nvSpPr>
        <p:spPr>
          <a:xfrm>
            <a:off x="7781451" y="1041098"/>
            <a:ext cx="1302539" cy="3945582"/>
          </a:xfrm>
          <a:prstGeom prst="roundRect">
            <a:avLst/>
          </a:prstGeom>
          <a:solidFill>
            <a:schemeClr val="accent5">
              <a:lumMod val="40000"/>
              <a:lumOff val="6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300" dirty="0">
                <a:solidFill>
                  <a:schemeClr val="tx2">
                    <a:lumMod val="10000"/>
                  </a:schemeClr>
                </a:solidFill>
              </a:rPr>
              <a:t>ESTADO DEL ARTE</a:t>
            </a:r>
            <a:r>
              <a:rPr lang="es-ES" sz="1300">
                <a:solidFill>
                  <a:schemeClr val="tx2">
                    <a:lumMod val="10000"/>
                  </a:schemeClr>
                </a:solidFill>
              </a:rPr>
              <a:t>: </a:t>
            </a:r>
            <a:r>
              <a:rPr lang="es-ES" sz="1300" dirty="0">
                <a:solidFill>
                  <a:schemeClr val="tx2">
                    <a:lumMod val="10000"/>
                  </a:schemeClr>
                </a:solidFill>
              </a:rPr>
              <a:t>A</a:t>
            </a:r>
            <a:r>
              <a:rPr lang="es-ES" sz="1300">
                <a:solidFill>
                  <a:schemeClr val="tx2">
                    <a:lumMod val="10000"/>
                  </a:schemeClr>
                </a:solidFill>
              </a:rPr>
              <a:t>ctualmente </a:t>
            </a:r>
            <a:r>
              <a:rPr lang="es-ES" sz="1300" dirty="0">
                <a:solidFill>
                  <a:schemeClr val="tx2">
                    <a:lumMod val="10000"/>
                  </a:schemeClr>
                </a:solidFill>
              </a:rPr>
              <a:t>está en fase de planificación, se piensa que para 2027 este implementada esta propuesta</a:t>
            </a:r>
            <a:endParaRPr lang="es-CO" sz="1300" dirty="0">
              <a:solidFill>
                <a:schemeClr val="tx2">
                  <a:lumMod val="10000"/>
                </a:schemeClr>
              </a:solidFill>
            </a:endParaRPr>
          </a:p>
        </p:txBody>
      </p:sp>
      <p:sp>
        <p:nvSpPr>
          <p:cNvPr id="9" name="Rectangle: Rounded Corners 8">
            <a:extLst>
              <a:ext uri="{FF2B5EF4-FFF2-40B4-BE49-F238E27FC236}">
                <a16:creationId xmlns:a16="http://schemas.microsoft.com/office/drawing/2014/main" id="{BC05A692-1E01-A594-855D-97AE11BAA610}"/>
              </a:ext>
            </a:extLst>
          </p:cNvPr>
          <p:cNvSpPr/>
          <p:nvPr/>
        </p:nvSpPr>
        <p:spPr>
          <a:xfrm>
            <a:off x="3854291" y="1041098"/>
            <a:ext cx="1906430" cy="3945582"/>
          </a:xfrm>
          <a:prstGeom prst="roundRect">
            <a:avLst/>
          </a:prstGeom>
          <a:solidFill>
            <a:schemeClr val="tx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1300" dirty="0"/>
              <a:t>MARCO CONCEPTUAL:</a:t>
            </a:r>
          </a:p>
          <a:p>
            <a:r>
              <a:rPr lang="es-ES" sz="1300" dirty="0"/>
              <a:t>Seguridad escolar: protección de la comunidad educativa.</a:t>
            </a:r>
          </a:p>
          <a:p>
            <a:r>
              <a:rPr lang="es-ES" sz="1300" dirty="0"/>
              <a:t>Prevención de riesgos: acciones para evitar incidentes.</a:t>
            </a:r>
          </a:p>
          <a:p>
            <a:r>
              <a:rPr lang="es-ES" sz="1300" dirty="0"/>
              <a:t>Bienestar escolar: ambiente seguro y confiable.</a:t>
            </a:r>
          </a:p>
          <a:p>
            <a:r>
              <a:rPr lang="es-ES" sz="1300" dirty="0"/>
              <a:t>Código QR: identificación rápida y segura.</a:t>
            </a:r>
          </a:p>
          <a:p>
            <a:r>
              <a:rPr lang="es-ES" sz="1300" dirty="0"/>
              <a:t>App móvil: herramienta de control y gestión.</a:t>
            </a:r>
            <a:endParaRPr lang="es-CO" sz="1300" dirty="0"/>
          </a:p>
        </p:txBody>
      </p:sp>
      <p:sp>
        <p:nvSpPr>
          <p:cNvPr id="10" name="Rectangle: Rounded Corners 9">
            <a:extLst>
              <a:ext uri="{FF2B5EF4-FFF2-40B4-BE49-F238E27FC236}">
                <a16:creationId xmlns:a16="http://schemas.microsoft.com/office/drawing/2014/main" id="{489E2AAB-986F-7AC7-2049-B1AA618E0D94}"/>
              </a:ext>
            </a:extLst>
          </p:cNvPr>
          <p:cNvSpPr/>
          <p:nvPr/>
        </p:nvSpPr>
        <p:spPr>
          <a:xfrm>
            <a:off x="2183130" y="1051560"/>
            <a:ext cx="1614011" cy="393512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MARCO CONTEXTUAL: La I.E. San Antonio De Prado</a:t>
            </a:r>
            <a:endParaRPr lang="es-CO" dirty="0"/>
          </a:p>
        </p:txBody>
      </p:sp>
      <p:sp>
        <p:nvSpPr>
          <p:cNvPr id="11" name="Rectangle: Rounded Corners 10">
            <a:extLst>
              <a:ext uri="{FF2B5EF4-FFF2-40B4-BE49-F238E27FC236}">
                <a16:creationId xmlns:a16="http://schemas.microsoft.com/office/drawing/2014/main" id="{B47A782C-34C2-231E-6139-46CA8CF5FFD2}"/>
              </a:ext>
            </a:extLst>
          </p:cNvPr>
          <p:cNvSpPr/>
          <p:nvPr/>
        </p:nvSpPr>
        <p:spPr>
          <a:xfrm>
            <a:off x="5817871" y="1041098"/>
            <a:ext cx="1906430" cy="3945582"/>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300" dirty="0"/>
              <a:t>MARCO TEORICO:</a:t>
            </a:r>
          </a:p>
          <a:p>
            <a:r>
              <a:rPr lang="es-ES" sz="1200" dirty="0"/>
              <a:t>En Colombia existen normas como la Ley 1620 de 2013 y el Decreto 1965, los cuales son protocolos para la convivencia y la seguridad escolar en los cuales nos apoyamos. Martínez, J. &amp; López, A. (2019): estudio sobre sistemas de asistencia con códigos QR en educación superior, evidenciando reducción de tiempos y mejora del control de acceso que nos sirven como </a:t>
            </a:r>
            <a:r>
              <a:rPr lang="es-ES" sz="1200"/>
              <a:t>documentación tecnológica.</a:t>
            </a:r>
            <a:endParaRPr lang="es-ES" sz="1100" dirty="0"/>
          </a:p>
        </p:txBody>
      </p:sp>
      <p:sp>
        <p:nvSpPr>
          <p:cNvPr id="12" name="Rectangle: Rounded Corners 11">
            <a:extLst>
              <a:ext uri="{FF2B5EF4-FFF2-40B4-BE49-F238E27FC236}">
                <a16:creationId xmlns:a16="http://schemas.microsoft.com/office/drawing/2014/main" id="{24B56483-2626-DB67-1545-B03711064462}"/>
              </a:ext>
            </a:extLst>
          </p:cNvPr>
          <p:cNvSpPr/>
          <p:nvPr/>
        </p:nvSpPr>
        <p:spPr>
          <a:xfrm>
            <a:off x="60009" y="1041098"/>
            <a:ext cx="2043111" cy="3945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300" dirty="0"/>
              <a:t>ANTECEDENTES:</a:t>
            </a:r>
          </a:p>
          <a:p>
            <a:pPr algn="ctr"/>
            <a:r>
              <a:rPr lang="es-ES" sz="1300" dirty="0"/>
              <a:t>La seguridad en colegios se estudia desde hace décadas. Foucault habló de vigilancia y disciplina. Cohen y </a:t>
            </a:r>
            <a:r>
              <a:rPr lang="es-ES" sz="1300" dirty="0" err="1"/>
              <a:t>Felson</a:t>
            </a:r>
            <a:r>
              <a:rPr lang="es-ES" sz="1300" dirty="0"/>
              <a:t> explicaron cómo prevenir riesgos. En Colombia, leyes como la Ley General de Educación (1994) y la Ley 1620 (2013) buscan garantizar entornos seguros. Con el tiempo, también se han usado tecnologías para apoyar esta seguridad.</a:t>
            </a:r>
            <a:endParaRPr lang="es-CO" sz="1300" dirty="0"/>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572450" y="165650"/>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CO" sz="3400" dirty="0">
                <a:solidFill>
                  <a:srgbClr val="015583"/>
                </a:solidFill>
                <a:latin typeface="Calibri"/>
                <a:ea typeface="Calibri"/>
                <a:cs typeface="Calibri"/>
                <a:sym typeface="Calibri"/>
              </a:rPr>
              <a:t>OBJETIVOS D</a:t>
            </a:r>
            <a:r>
              <a:rPr lang="es-CO" sz="3400" b="1" dirty="0">
                <a:solidFill>
                  <a:srgbClr val="015583"/>
                </a:solidFill>
                <a:latin typeface="Calibri"/>
                <a:ea typeface="Calibri"/>
                <a:cs typeface="Calibri"/>
                <a:sym typeface="Calibri"/>
              </a:rPr>
              <a:t>E LA PROPUESTA</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2" name="TextBox 1">
            <a:extLst>
              <a:ext uri="{FF2B5EF4-FFF2-40B4-BE49-F238E27FC236}">
                <a16:creationId xmlns:a16="http://schemas.microsoft.com/office/drawing/2014/main" id="{1A455E4F-1C94-DDB4-1CD3-3BF3A320DBE9}"/>
              </a:ext>
            </a:extLst>
          </p:cNvPr>
          <p:cNvSpPr txBox="1"/>
          <p:nvPr/>
        </p:nvSpPr>
        <p:spPr>
          <a:xfrm>
            <a:off x="908225" y="1211163"/>
            <a:ext cx="7327549" cy="523220"/>
          </a:xfrm>
          <a:prstGeom prst="rect">
            <a:avLst/>
          </a:prstGeom>
          <a:noFill/>
        </p:spPr>
        <p:txBody>
          <a:bodyPr wrap="square" rtlCol="0">
            <a:spAutoFit/>
          </a:bodyPr>
          <a:lstStyle/>
          <a:p>
            <a:endParaRPr lang="es-ES" dirty="0"/>
          </a:p>
          <a:p>
            <a:endParaRPr lang="es-ES" dirty="0"/>
          </a:p>
        </p:txBody>
      </p:sp>
      <p:sp>
        <p:nvSpPr>
          <p:cNvPr id="3" name="Rectangle: Rounded Corners 2">
            <a:extLst>
              <a:ext uri="{FF2B5EF4-FFF2-40B4-BE49-F238E27FC236}">
                <a16:creationId xmlns:a16="http://schemas.microsoft.com/office/drawing/2014/main" id="{E2B1E4E6-9D3D-4BDB-B0A2-18ED078D1282}"/>
              </a:ext>
            </a:extLst>
          </p:cNvPr>
          <p:cNvSpPr/>
          <p:nvPr/>
        </p:nvSpPr>
        <p:spPr>
          <a:xfrm>
            <a:off x="1531620" y="1062157"/>
            <a:ext cx="1794510" cy="3886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GENERAL</a:t>
            </a:r>
            <a:endParaRPr lang="es-CO" dirty="0"/>
          </a:p>
        </p:txBody>
      </p:sp>
      <p:sp>
        <p:nvSpPr>
          <p:cNvPr id="4" name="Rectangle: Rounded Corners 3">
            <a:extLst>
              <a:ext uri="{FF2B5EF4-FFF2-40B4-BE49-F238E27FC236}">
                <a16:creationId xmlns:a16="http://schemas.microsoft.com/office/drawing/2014/main" id="{BC812554-ADE3-1FD7-7C6A-947999A8E5FA}"/>
              </a:ext>
            </a:extLst>
          </p:cNvPr>
          <p:cNvSpPr/>
          <p:nvPr/>
        </p:nvSpPr>
        <p:spPr>
          <a:xfrm>
            <a:off x="640081" y="1734383"/>
            <a:ext cx="3566158" cy="2060378"/>
          </a:xfrm>
          <a:prstGeom prst="roundRect">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tx2">
                    <a:lumMod val="10000"/>
                  </a:schemeClr>
                </a:solidFill>
              </a:rPr>
              <a:t>Desarrollar un aplicativo para el uso de códigos QR como una medida de seguridad para la I.E. San Antonio De Prado </a:t>
            </a:r>
          </a:p>
          <a:p>
            <a:pPr algn="ctr"/>
            <a:endParaRPr lang="es-CO" dirty="0"/>
          </a:p>
        </p:txBody>
      </p:sp>
      <p:cxnSp>
        <p:nvCxnSpPr>
          <p:cNvPr id="6" name="Straight Connector 5">
            <a:extLst>
              <a:ext uri="{FF2B5EF4-FFF2-40B4-BE49-F238E27FC236}">
                <a16:creationId xmlns:a16="http://schemas.microsoft.com/office/drawing/2014/main" id="{D8ACBAC2-CB70-687F-22DA-8AD6D55CF0FE}"/>
              </a:ext>
            </a:extLst>
          </p:cNvPr>
          <p:cNvCxnSpPr>
            <a:cxnSpLocks/>
            <a:stCxn id="3" idx="2"/>
            <a:endCxn id="4" idx="0"/>
          </p:cNvCxnSpPr>
          <p:nvPr/>
        </p:nvCxnSpPr>
        <p:spPr>
          <a:xfrm flipH="1">
            <a:off x="2423160" y="1450777"/>
            <a:ext cx="5715" cy="283606"/>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D9A49912-5FD3-E45B-D2FD-A4C1218ED8AE}"/>
              </a:ext>
            </a:extLst>
          </p:cNvPr>
          <p:cNvSpPr/>
          <p:nvPr/>
        </p:nvSpPr>
        <p:spPr>
          <a:xfrm>
            <a:off x="6687501" y="1062157"/>
            <a:ext cx="1490630" cy="3886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ESPECIFICOS</a:t>
            </a:r>
            <a:endParaRPr lang="es-CO" dirty="0"/>
          </a:p>
        </p:txBody>
      </p:sp>
      <p:sp>
        <p:nvSpPr>
          <p:cNvPr id="8" name="Rectangle: Rounded Corners 7">
            <a:extLst>
              <a:ext uri="{FF2B5EF4-FFF2-40B4-BE49-F238E27FC236}">
                <a16:creationId xmlns:a16="http://schemas.microsoft.com/office/drawing/2014/main" id="{DD87BA45-C250-F765-AF65-4DAC82E1F8EB}"/>
              </a:ext>
            </a:extLst>
          </p:cNvPr>
          <p:cNvSpPr/>
          <p:nvPr/>
        </p:nvSpPr>
        <p:spPr>
          <a:xfrm>
            <a:off x="6181263" y="1645920"/>
            <a:ext cx="2503138" cy="9258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Diseñar un aplicativo para la mejoría de seguridad en la I. E. San Antonio De Prado</a:t>
            </a:r>
          </a:p>
        </p:txBody>
      </p:sp>
      <p:sp>
        <p:nvSpPr>
          <p:cNvPr id="9" name="Rectangle: Rounded Corners 8">
            <a:extLst>
              <a:ext uri="{FF2B5EF4-FFF2-40B4-BE49-F238E27FC236}">
                <a16:creationId xmlns:a16="http://schemas.microsoft.com/office/drawing/2014/main" id="{ED0B6DAD-14B5-CCC3-127F-A393457D912B}"/>
              </a:ext>
            </a:extLst>
          </p:cNvPr>
          <p:cNvSpPr/>
          <p:nvPr/>
        </p:nvSpPr>
        <p:spPr>
          <a:xfrm>
            <a:off x="6181261" y="2688590"/>
            <a:ext cx="2503139" cy="101473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Iniciar la fase de funcionamiento para optimizar el aplicativo y corregir errores que se tengan</a:t>
            </a:r>
          </a:p>
        </p:txBody>
      </p:sp>
      <p:sp>
        <p:nvSpPr>
          <p:cNvPr id="10" name="Rectangle: Rounded Corners 9">
            <a:extLst>
              <a:ext uri="{FF2B5EF4-FFF2-40B4-BE49-F238E27FC236}">
                <a16:creationId xmlns:a16="http://schemas.microsoft.com/office/drawing/2014/main" id="{C07FAFF0-75FD-B774-9EA3-E0E34F8DC447}"/>
              </a:ext>
            </a:extLst>
          </p:cNvPr>
          <p:cNvSpPr/>
          <p:nvPr/>
        </p:nvSpPr>
        <p:spPr>
          <a:xfrm>
            <a:off x="6181261" y="3820161"/>
            <a:ext cx="2503139" cy="910874"/>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2">
                    <a:lumMod val="10000"/>
                  </a:schemeClr>
                </a:solidFill>
              </a:rPr>
              <a:t>Implementar el aplicativo como medida de seguridad en la I.E. San Antonio De Prado </a:t>
            </a:r>
            <a:endParaRPr lang="es-CO" dirty="0">
              <a:solidFill>
                <a:schemeClr val="tx2">
                  <a:lumMod val="10000"/>
                </a:schemeClr>
              </a:solidFill>
            </a:endParaRPr>
          </a:p>
        </p:txBody>
      </p:sp>
      <p:cxnSp>
        <p:nvCxnSpPr>
          <p:cNvPr id="13" name="Straight Connector 12">
            <a:extLst>
              <a:ext uri="{FF2B5EF4-FFF2-40B4-BE49-F238E27FC236}">
                <a16:creationId xmlns:a16="http://schemas.microsoft.com/office/drawing/2014/main" id="{6D723F6D-E663-AF5C-F0E3-4C4A4B1547D2}"/>
              </a:ext>
            </a:extLst>
          </p:cNvPr>
          <p:cNvCxnSpPr>
            <a:stCxn id="7" idx="2"/>
            <a:endCxn id="8" idx="0"/>
          </p:cNvCxnSpPr>
          <p:nvPr/>
        </p:nvCxnSpPr>
        <p:spPr>
          <a:xfrm>
            <a:off x="7432816" y="1450777"/>
            <a:ext cx="16" cy="1951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C5F832-1E71-650E-7AC4-FDA5A0B5340F}"/>
              </a:ext>
            </a:extLst>
          </p:cNvPr>
          <p:cNvCxnSpPr>
            <a:stCxn id="9" idx="0"/>
            <a:endCxn id="8" idx="2"/>
          </p:cNvCxnSpPr>
          <p:nvPr/>
        </p:nvCxnSpPr>
        <p:spPr>
          <a:xfrm flipV="1">
            <a:off x="7432831" y="2571750"/>
            <a:ext cx="1" cy="1168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6FAED5E-E5F1-2159-502A-14D93DDD496B}"/>
              </a:ext>
            </a:extLst>
          </p:cNvPr>
          <p:cNvCxnSpPr>
            <a:stCxn id="9" idx="2"/>
            <a:endCxn id="10" idx="0"/>
          </p:cNvCxnSpPr>
          <p:nvPr/>
        </p:nvCxnSpPr>
        <p:spPr>
          <a:xfrm>
            <a:off x="7432831" y="3703320"/>
            <a:ext cx="0" cy="11684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12775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96"/>
                                        </p:tgtEl>
                                        <p:attrNameLst>
                                          <p:attrName>style.visibility</p:attrName>
                                        </p:attrNameLst>
                                      </p:cBhvr>
                                      <p:to>
                                        <p:strVal val="visible"/>
                                      </p:to>
                                    </p:set>
                                    <p:animEffect transition="in" filter="fade">
                                      <p:cBhvr>
                                        <p:cTn id="7" dur="1000"/>
                                        <p:tgtEl>
                                          <p:spTgt spid="496"/>
                                        </p:tgtEl>
                                      </p:cBhvr>
                                    </p:animEffect>
                                    <p:anim calcmode="lin" valueType="num">
                                      <p:cBhvr>
                                        <p:cTn id="8" dur="1000" fill="hold"/>
                                        <p:tgtEl>
                                          <p:spTgt spid="496"/>
                                        </p:tgtEl>
                                        <p:attrNameLst>
                                          <p:attrName>ppt_x</p:attrName>
                                        </p:attrNameLst>
                                      </p:cBhvr>
                                      <p:tavLst>
                                        <p:tav tm="0">
                                          <p:val>
                                            <p:strVal val="#ppt_x"/>
                                          </p:val>
                                        </p:tav>
                                        <p:tav tm="100000">
                                          <p:val>
                                            <p:strVal val="#ppt_x"/>
                                          </p:val>
                                        </p:tav>
                                      </p:tavLst>
                                    </p:anim>
                                    <p:anim calcmode="lin" valueType="num">
                                      <p:cBhvr>
                                        <p:cTn id="9" dur="1000" fill="hold"/>
                                        <p:tgtEl>
                                          <p:spTgt spid="49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anim calcmode="lin" valueType="num">
                                      <p:cBhvr>
                                        <p:cTn id="53" dur="1000" fill="hold"/>
                                        <p:tgtEl>
                                          <p:spTgt spid="13"/>
                                        </p:tgtEl>
                                        <p:attrNameLst>
                                          <p:attrName>ppt_x</p:attrName>
                                        </p:attrNameLst>
                                      </p:cBhvr>
                                      <p:tavLst>
                                        <p:tav tm="0">
                                          <p:val>
                                            <p:strVal val="#ppt_x"/>
                                          </p:val>
                                        </p:tav>
                                        <p:tav tm="100000">
                                          <p:val>
                                            <p:strVal val="#ppt_x"/>
                                          </p:val>
                                        </p:tav>
                                      </p:tavLst>
                                    </p:anim>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ppt_x</p:attrName>
                                        </p:attrNameLst>
                                      </p:cBhvr>
                                      <p:tavLst>
                                        <p:tav tm="0">
                                          <p:val>
                                            <p:strVal val="#ppt_x"/>
                                          </p:val>
                                        </p:tav>
                                        <p:tav tm="100000">
                                          <p:val>
                                            <p:strVal val="#ppt_x"/>
                                          </p:val>
                                        </p:tav>
                                      </p:tavLst>
                                    </p:anim>
                                    <p:anim calcmode="lin" valueType="num">
                                      <p:cBhvr>
                                        <p:cTn id="59" dur="10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7" grpId="0" animBg="1"/>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37087" y="1022596"/>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2800" dirty="0">
                <a:solidFill>
                  <a:srgbClr val="015583"/>
                </a:solidFill>
                <a:latin typeface="Calibri"/>
                <a:ea typeface="Calibri"/>
                <a:cs typeface="Calibri"/>
                <a:sym typeface="Calibri"/>
              </a:rPr>
              <a:t>R</a:t>
            </a:r>
            <a:r>
              <a:rPr lang="es-CO" sz="2800" dirty="0">
                <a:solidFill>
                  <a:srgbClr val="015583"/>
                </a:solidFill>
                <a:latin typeface="Calibri"/>
                <a:ea typeface="Calibri"/>
                <a:cs typeface="Calibri"/>
                <a:sym typeface="Calibri"/>
              </a:rPr>
              <a:t>ESULTADOS Y PRODU</a:t>
            </a:r>
            <a:r>
              <a:rPr lang="es-CO" sz="2800" b="1" dirty="0">
                <a:solidFill>
                  <a:srgbClr val="015583"/>
                </a:solidFill>
                <a:latin typeface="Calibri"/>
                <a:ea typeface="Calibri"/>
                <a:cs typeface="Calibri"/>
                <a:sym typeface="Calibri"/>
              </a:rPr>
              <a:t>CTOS ESPERADOS</a:t>
            </a: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2" name="Rectangle: Rounded Corners 1">
            <a:extLst>
              <a:ext uri="{FF2B5EF4-FFF2-40B4-BE49-F238E27FC236}">
                <a16:creationId xmlns:a16="http://schemas.microsoft.com/office/drawing/2014/main" id="{39507771-FC38-2599-278B-7816117B62F4}"/>
              </a:ext>
            </a:extLst>
          </p:cNvPr>
          <p:cNvSpPr/>
          <p:nvPr/>
        </p:nvSpPr>
        <p:spPr>
          <a:xfrm>
            <a:off x="725459" y="1693397"/>
            <a:ext cx="7693082" cy="3187214"/>
          </a:xfrm>
          <a:prstGeom prst="roundRect">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400" dirty="0"/>
              <a:t>Se espera que este proyecto sea implementado en la </a:t>
            </a:r>
            <a:r>
              <a:rPr lang="es-MX" sz="2400" dirty="0">
                <a:latin typeface="Arial Narrow" panose="020B0606020202030204" pitchFamily="34" charset="0"/>
              </a:rPr>
              <a:t>Institución Educativa San Antonio De Prado </a:t>
            </a:r>
            <a:r>
              <a:rPr lang="es-MX" sz="2400" dirty="0"/>
              <a:t>con el fin de fortalecer la seguridad de los estudiantes y del personal, contribuyendo así a una mejora significativa en la calidad de vida, tanto en el ámbito académico como laboral.</a:t>
            </a:r>
            <a:endParaRPr lang="es-CO" sz="500" dirty="0">
              <a:solidFill>
                <a:schemeClr val="dk1"/>
              </a:solidFill>
              <a:latin typeface="Calibri"/>
              <a:ea typeface="Calibri"/>
              <a:cs typeface="Calibri"/>
              <a:sym typeface="Calibri"/>
            </a:endParaRPr>
          </a:p>
          <a:p>
            <a:pPr algn="ctr"/>
            <a:endParaRPr lang="es-CO" dirty="0"/>
          </a:p>
        </p:txBody>
      </p:sp>
    </p:spTree>
    <p:extLst>
      <p:ext uri="{BB962C8B-B14F-4D97-AF65-F5344CB8AC3E}">
        <p14:creationId xmlns:p14="http://schemas.microsoft.com/office/powerpoint/2010/main" val="736701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93"/>
                                        </p:tgtEl>
                                        <p:attrNameLst>
                                          <p:attrName>style.visibility</p:attrName>
                                        </p:attrNameLst>
                                      </p:cBhvr>
                                      <p:to>
                                        <p:strVal val="visible"/>
                                      </p:to>
                                    </p:set>
                                    <p:animEffect transition="in" filter="fade">
                                      <p:cBhvr>
                                        <p:cTn id="7" dur="1000"/>
                                        <p:tgtEl>
                                          <p:spTgt spid="493"/>
                                        </p:tgtEl>
                                      </p:cBhvr>
                                    </p:animEffect>
                                    <p:anim calcmode="lin" valueType="num">
                                      <p:cBhvr>
                                        <p:cTn id="8" dur="1000" fill="hold"/>
                                        <p:tgtEl>
                                          <p:spTgt spid="493"/>
                                        </p:tgtEl>
                                        <p:attrNameLst>
                                          <p:attrName>ppt_x</p:attrName>
                                        </p:attrNameLst>
                                      </p:cBhvr>
                                      <p:tavLst>
                                        <p:tav tm="0">
                                          <p:val>
                                            <p:strVal val="#ppt_x"/>
                                          </p:val>
                                        </p:tav>
                                        <p:tav tm="100000">
                                          <p:val>
                                            <p:strVal val="#ppt_x"/>
                                          </p:val>
                                        </p:tav>
                                      </p:tavLst>
                                    </p:anim>
                                    <p:anim calcmode="lin" valueType="num">
                                      <p:cBhvr>
                                        <p:cTn id="9" dur="1000" fill="hold"/>
                                        <p:tgtEl>
                                          <p:spTgt spid="49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96"/>
                                        </p:tgtEl>
                                        <p:attrNameLst>
                                          <p:attrName>style.visibility</p:attrName>
                                        </p:attrNameLst>
                                      </p:cBhvr>
                                      <p:to>
                                        <p:strVal val="visible"/>
                                      </p:to>
                                    </p:set>
                                    <p:animEffect transition="in" filter="fade">
                                      <p:cBhvr>
                                        <p:cTn id="12" dur="1000"/>
                                        <p:tgtEl>
                                          <p:spTgt spid="496"/>
                                        </p:tgtEl>
                                      </p:cBhvr>
                                    </p:animEffect>
                                    <p:anim calcmode="lin" valueType="num">
                                      <p:cBhvr>
                                        <p:cTn id="13" dur="1000" fill="hold"/>
                                        <p:tgtEl>
                                          <p:spTgt spid="496"/>
                                        </p:tgtEl>
                                        <p:attrNameLst>
                                          <p:attrName>ppt_x</p:attrName>
                                        </p:attrNameLst>
                                      </p:cBhvr>
                                      <p:tavLst>
                                        <p:tav tm="0">
                                          <p:val>
                                            <p:strVal val="#ppt_x"/>
                                          </p:val>
                                        </p:tav>
                                        <p:tav tm="100000">
                                          <p:val>
                                            <p:strVal val="#ppt_x"/>
                                          </p:val>
                                        </p:tav>
                                      </p:tavLst>
                                    </p:anim>
                                    <p:anim calcmode="lin" valueType="num">
                                      <p:cBhvr>
                                        <p:cTn id="14" dur="1000" fill="hold"/>
                                        <p:tgtEl>
                                          <p:spTgt spid="49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437086" y="83057"/>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2800" dirty="0">
                <a:solidFill>
                  <a:srgbClr val="015583"/>
                </a:solidFill>
                <a:latin typeface="Calibri"/>
                <a:ea typeface="Calibri"/>
                <a:cs typeface="Calibri"/>
                <a:sym typeface="Calibri"/>
              </a:rPr>
              <a:t>CRONO</a:t>
            </a:r>
            <a:r>
              <a:rPr lang="es-ES" sz="2800" b="1" dirty="0">
                <a:solidFill>
                  <a:srgbClr val="015583"/>
                </a:solidFill>
                <a:latin typeface="Calibri"/>
                <a:ea typeface="Calibri"/>
                <a:cs typeface="Calibri"/>
                <a:sym typeface="Calibri"/>
              </a:rPr>
              <a:t>GRAMA</a:t>
            </a:r>
            <a:endParaRPr lang="es-CO" sz="2800" b="1" dirty="0">
              <a:solidFill>
                <a:srgbClr val="015583"/>
              </a:solidFill>
              <a:latin typeface="Calibri"/>
              <a:ea typeface="Calibri"/>
              <a:cs typeface="Calibri"/>
              <a:sym typeface="Calibri"/>
            </a:endParaRP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2" name="Rectangle 2">
            <a:extLst>
              <a:ext uri="{FF2B5EF4-FFF2-40B4-BE49-F238E27FC236}">
                <a16:creationId xmlns:a16="http://schemas.microsoft.com/office/drawing/2014/main" id="{04E1C3BC-5C16-A54D-6A33-37AC4BBDE628}"/>
              </a:ext>
            </a:extLst>
          </p:cNvPr>
          <p:cNvSpPr>
            <a:spLocks noChangeArrowheads="1"/>
          </p:cNvSpPr>
          <p:nvPr/>
        </p:nvSpPr>
        <p:spPr bwMode="auto">
          <a:xfrm>
            <a:off x="0" y="1895474"/>
            <a:ext cx="1092079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O"/>
          </a:p>
        </p:txBody>
      </p:sp>
      <p:graphicFrame>
        <p:nvGraphicFramePr>
          <p:cNvPr id="3" name="Object 2">
            <a:extLst>
              <a:ext uri="{FF2B5EF4-FFF2-40B4-BE49-F238E27FC236}">
                <a16:creationId xmlns:a16="http://schemas.microsoft.com/office/drawing/2014/main" id="{BDA4E045-044E-1EBE-7273-C2BCF50DFCEB}"/>
              </a:ext>
            </a:extLst>
          </p:cNvPr>
          <p:cNvGraphicFramePr>
            <a:graphicFrameLocks noChangeAspect="1"/>
          </p:cNvGraphicFramePr>
          <p:nvPr>
            <p:extLst>
              <p:ext uri="{D42A27DB-BD31-4B8C-83A1-F6EECF244321}">
                <p14:modId xmlns:p14="http://schemas.microsoft.com/office/powerpoint/2010/main" val="320327880"/>
              </p:ext>
            </p:extLst>
          </p:nvPr>
        </p:nvGraphicFramePr>
        <p:xfrm>
          <a:off x="268288" y="1300163"/>
          <a:ext cx="6981825" cy="2841625"/>
        </p:xfrm>
        <a:graphic>
          <a:graphicData uri="http://schemas.openxmlformats.org/presentationml/2006/ole">
            <mc:AlternateContent xmlns:mc="http://schemas.openxmlformats.org/markup-compatibility/2006">
              <mc:Choice xmlns:v="urn:schemas-microsoft-com:vml" Requires="v">
                <p:oleObj name="Worksheet" r:id="rId5" imgW="8258080" imgH="1533655" progId="Excel.Sheet.12">
                  <p:embed/>
                </p:oleObj>
              </mc:Choice>
              <mc:Fallback>
                <p:oleObj name="Worksheet" r:id="rId5" imgW="8258080" imgH="1533655" progId="Excel.Sheet.12">
                  <p:embed/>
                  <p:pic>
                    <p:nvPicPr>
                      <p:cNvPr id="0" name="Object 1"/>
                      <p:cNvPicPr>
                        <a:picLocks noChangeAspect="1" noChangeArrowheads="1"/>
                      </p:cNvPicPr>
                      <p:nvPr/>
                    </p:nvPicPr>
                    <p:blipFill>
                      <a:blip r:embed="rId6"/>
                      <a:srcRect/>
                      <a:stretch>
                        <a:fillRect/>
                      </a:stretch>
                    </p:blipFill>
                    <p:spPr bwMode="auto">
                      <a:xfrm>
                        <a:off x="268288" y="1300163"/>
                        <a:ext cx="6981825" cy="2841625"/>
                      </a:xfrm>
                      <a:prstGeom prst="rect">
                        <a:avLst/>
                      </a:prstGeom>
                      <a:noFill/>
                    </p:spPr>
                  </p:pic>
                </p:oleObj>
              </mc:Fallback>
            </mc:AlternateContent>
          </a:graphicData>
        </a:graphic>
      </p:graphicFrame>
    </p:spTree>
    <p:extLst>
      <p:ext uri="{BB962C8B-B14F-4D97-AF65-F5344CB8AC3E}">
        <p14:creationId xmlns:p14="http://schemas.microsoft.com/office/powerpoint/2010/main" val="3186439549"/>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493" name="Google Shape;493;p15"/>
          <p:cNvPicPr preferRelativeResize="0"/>
          <p:nvPr/>
        </p:nvPicPr>
        <p:blipFill rotWithShape="1">
          <a:blip r:embed="rId3">
            <a:alphaModFix/>
          </a:blip>
          <a:srcRect/>
          <a:stretch/>
        </p:blipFill>
        <p:spPr>
          <a:xfrm>
            <a:off x="-302575" y="4522413"/>
            <a:ext cx="912176" cy="910874"/>
          </a:xfrm>
          <a:prstGeom prst="rect">
            <a:avLst/>
          </a:prstGeom>
          <a:noFill/>
          <a:ln>
            <a:noFill/>
          </a:ln>
        </p:spPr>
      </p:pic>
      <p:sp>
        <p:nvSpPr>
          <p:cNvPr id="494" name="Google Shape;494;p15"/>
          <p:cNvSpPr txBox="1"/>
          <p:nvPr/>
        </p:nvSpPr>
        <p:spPr>
          <a:xfrm>
            <a:off x="1509585" y="0"/>
            <a:ext cx="5999100" cy="6708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2800" dirty="0">
                <a:solidFill>
                  <a:srgbClr val="015583"/>
                </a:solidFill>
                <a:latin typeface="Calibri"/>
                <a:ea typeface="Calibri"/>
                <a:cs typeface="Calibri"/>
                <a:sym typeface="Calibri"/>
              </a:rPr>
              <a:t>BIBLIO</a:t>
            </a:r>
            <a:r>
              <a:rPr lang="es-ES" sz="2800" b="1" dirty="0">
                <a:solidFill>
                  <a:srgbClr val="015583"/>
                </a:solidFill>
                <a:latin typeface="Calibri"/>
                <a:ea typeface="Calibri"/>
                <a:cs typeface="Calibri"/>
                <a:sym typeface="Calibri"/>
              </a:rPr>
              <a:t>GRAFÍA</a:t>
            </a:r>
            <a:endParaRPr lang="es-CO" sz="2800" b="1" dirty="0">
              <a:solidFill>
                <a:srgbClr val="015583"/>
              </a:solidFill>
              <a:latin typeface="Calibri"/>
              <a:ea typeface="Calibri"/>
              <a:cs typeface="Calibri"/>
              <a:sym typeface="Calibri"/>
            </a:endParaRPr>
          </a:p>
        </p:txBody>
      </p:sp>
      <p:pic>
        <p:nvPicPr>
          <p:cNvPr id="496" name="Google Shape;496;p15"/>
          <p:cNvPicPr preferRelativeResize="0"/>
          <p:nvPr/>
        </p:nvPicPr>
        <p:blipFill rotWithShape="1">
          <a:blip r:embed="rId4">
            <a:alphaModFix/>
          </a:blip>
          <a:srcRect/>
          <a:stretch/>
        </p:blipFill>
        <p:spPr>
          <a:xfrm>
            <a:off x="7937150" y="4654475"/>
            <a:ext cx="860705" cy="133450"/>
          </a:xfrm>
          <a:prstGeom prst="rect">
            <a:avLst/>
          </a:prstGeom>
          <a:noFill/>
          <a:ln>
            <a:noFill/>
          </a:ln>
        </p:spPr>
      </p:pic>
      <p:sp>
        <p:nvSpPr>
          <p:cNvPr id="2" name="TextBox 1">
            <a:extLst>
              <a:ext uri="{FF2B5EF4-FFF2-40B4-BE49-F238E27FC236}">
                <a16:creationId xmlns:a16="http://schemas.microsoft.com/office/drawing/2014/main" id="{0F7CCD03-E98C-AF73-040B-080CCCD569D5}"/>
              </a:ext>
            </a:extLst>
          </p:cNvPr>
          <p:cNvSpPr txBox="1"/>
          <p:nvPr/>
        </p:nvSpPr>
        <p:spPr>
          <a:xfrm>
            <a:off x="125730" y="1017478"/>
            <a:ext cx="8766810" cy="3108543"/>
          </a:xfrm>
          <a:prstGeom prst="rect">
            <a:avLst/>
          </a:prstGeom>
          <a:noFill/>
        </p:spPr>
        <p:txBody>
          <a:bodyPr wrap="square" rtlCol="0">
            <a:spAutoFit/>
          </a:bodyPr>
          <a:lstStyle/>
          <a:p>
            <a:pPr marL="285750" indent="-285750">
              <a:buFont typeface="Arial" panose="020B0604020202020204" pitchFamily="34" charset="0"/>
              <a:buChar char="•"/>
            </a:pPr>
            <a:r>
              <a:rPr lang="es-ES" dirty="0"/>
              <a:t>Cohen, L., &amp; </a:t>
            </a:r>
            <a:r>
              <a:rPr lang="es-ES" dirty="0" err="1"/>
              <a:t>Felson</a:t>
            </a:r>
            <a:r>
              <a:rPr lang="es-ES" dirty="0"/>
              <a:t>, M. (1979). Social </a:t>
            </a:r>
            <a:r>
              <a:rPr lang="es-ES" dirty="0" err="1"/>
              <a:t>change</a:t>
            </a:r>
            <a:r>
              <a:rPr lang="es-ES" dirty="0"/>
              <a:t> and </a:t>
            </a:r>
            <a:r>
              <a:rPr lang="es-ES" dirty="0" err="1"/>
              <a:t>crime</a:t>
            </a:r>
            <a:r>
              <a:rPr lang="es-ES" dirty="0"/>
              <a:t> </a:t>
            </a:r>
            <a:r>
              <a:rPr lang="es-ES" dirty="0" err="1"/>
              <a:t>rate</a:t>
            </a:r>
            <a:r>
              <a:rPr lang="es-ES" dirty="0"/>
              <a:t> </a:t>
            </a:r>
            <a:r>
              <a:rPr lang="es-ES" dirty="0" err="1"/>
              <a:t>trends</a:t>
            </a:r>
            <a:r>
              <a:rPr lang="es-ES" dirty="0"/>
              <a:t>: A </a:t>
            </a:r>
            <a:r>
              <a:rPr lang="es-ES" dirty="0" err="1"/>
              <a:t>routine</a:t>
            </a:r>
            <a:r>
              <a:rPr lang="es-ES" dirty="0"/>
              <a:t> </a:t>
            </a:r>
            <a:r>
              <a:rPr lang="es-ES" dirty="0" err="1"/>
              <a:t>activity</a:t>
            </a:r>
            <a:r>
              <a:rPr lang="es-ES" dirty="0"/>
              <a:t> </a:t>
            </a:r>
            <a:r>
              <a:rPr lang="es-ES" dirty="0" err="1"/>
              <a:t>approach</a:t>
            </a:r>
            <a:r>
              <a:rPr lang="es-ES" dirty="0"/>
              <a:t>. </a:t>
            </a:r>
            <a:r>
              <a:rPr lang="es-ES" i="1" dirty="0"/>
              <a:t>American </a:t>
            </a:r>
            <a:r>
              <a:rPr lang="es-ES" i="1" dirty="0" err="1"/>
              <a:t>Sociological</a:t>
            </a:r>
            <a:r>
              <a:rPr lang="es-ES" i="1" dirty="0"/>
              <a:t> </a:t>
            </a:r>
            <a:r>
              <a:rPr lang="es-ES" i="1" dirty="0" err="1"/>
              <a:t>Review</a:t>
            </a:r>
            <a:r>
              <a:rPr lang="es-ES" i="1" dirty="0"/>
              <a:t>, </a:t>
            </a:r>
          </a:p>
          <a:p>
            <a:pPr marL="285750" indent="-285750">
              <a:buFont typeface="Arial" panose="020B0604020202020204" pitchFamily="34" charset="0"/>
              <a:buChar char="•"/>
            </a:pPr>
            <a:r>
              <a:rPr lang="es-ES" dirty="0"/>
              <a:t>Foucault, M. (1975). </a:t>
            </a:r>
            <a:r>
              <a:rPr lang="es-ES" i="1" dirty="0"/>
              <a:t>Vigilar y castigar: Nacimiento de la prisión</a:t>
            </a:r>
            <a:r>
              <a:rPr lang="es-ES" dirty="0"/>
              <a:t>. Siglo XXI Editores.</a:t>
            </a:r>
          </a:p>
          <a:p>
            <a:pPr marL="285750" indent="-285750">
              <a:buFont typeface="Arial" panose="020B0604020202020204" pitchFamily="34" charset="0"/>
              <a:buChar char="•"/>
            </a:pPr>
            <a:r>
              <a:rPr lang="es-ES" dirty="0"/>
              <a:t>García, R. (2015). Tecnologías de la información aplicadas a la seguridad escolar. </a:t>
            </a:r>
            <a:r>
              <a:rPr lang="es-ES" i="1" dirty="0"/>
              <a:t>Revista Colombiana de Educación y Tecnología, 12</a:t>
            </a:r>
            <a:r>
              <a:rPr lang="es-ES" dirty="0"/>
              <a:t>(2), 45–60.</a:t>
            </a:r>
          </a:p>
          <a:p>
            <a:pPr marL="285750" indent="-285750">
              <a:buFont typeface="Arial" panose="020B0604020202020204" pitchFamily="34" charset="0"/>
              <a:buChar char="•"/>
            </a:pPr>
            <a:r>
              <a:rPr lang="es-ES" dirty="0"/>
              <a:t>Ley 115 de 1994. (1994, 8 de febrero). </a:t>
            </a:r>
            <a:r>
              <a:rPr lang="es-ES" i="1" dirty="0"/>
              <a:t>Por la cual se expide la Ley General de Educación</a:t>
            </a:r>
            <a:r>
              <a:rPr lang="es-ES" dirty="0"/>
              <a:t>. Diario Oficial No. 41.214. Congreso de la República de Colombia.</a:t>
            </a:r>
          </a:p>
          <a:p>
            <a:pPr marL="285750" indent="-285750">
              <a:buFont typeface="Arial" panose="020B0604020202020204" pitchFamily="34" charset="0"/>
              <a:buChar char="•"/>
            </a:pPr>
            <a:r>
              <a:rPr lang="es-ES" dirty="0"/>
              <a:t>Ley 1581 de 2012. (2012, 17 de octubre). </a:t>
            </a:r>
            <a:r>
              <a:rPr lang="es-ES" i="1" dirty="0"/>
              <a:t>Por la cual se dictan disposiciones generales para la protección de datos personales</a:t>
            </a:r>
            <a:r>
              <a:rPr lang="es-ES" dirty="0"/>
              <a:t>. Diario Oficial No. 48.587. Congreso de la República de Colombia.</a:t>
            </a:r>
          </a:p>
          <a:p>
            <a:pPr marL="285750" indent="-285750">
              <a:buFont typeface="Arial" panose="020B0604020202020204" pitchFamily="34" charset="0"/>
              <a:buChar char="•"/>
            </a:pPr>
            <a:r>
              <a:rPr lang="es-ES" dirty="0"/>
              <a:t>Ley 1620 de 2013. (2013, 15 de marzo). </a:t>
            </a:r>
            <a:r>
              <a:rPr lang="es-ES" i="1" dirty="0"/>
              <a:t>Por la cual se crea el Sistema Nacional de Convivencia Escolar y formación para el ejercicio de los derechos humanos, la educación para la sexualidad y la prevención y mitigación de la violencia escolar</a:t>
            </a:r>
            <a:r>
              <a:rPr lang="es-ES" dirty="0"/>
              <a:t>. Diario Oficial No. 48.733. Congreso de la República de Colombia.</a:t>
            </a:r>
          </a:p>
          <a:p>
            <a:pPr marL="285750" indent="-285750">
              <a:buFont typeface="Arial" panose="020B0604020202020204" pitchFamily="34" charset="0"/>
              <a:buChar char="•"/>
            </a:pPr>
            <a:r>
              <a:rPr lang="es-ES" dirty="0"/>
              <a:t>Ministerio de Educación Nacional. (2006). </a:t>
            </a:r>
            <a:r>
              <a:rPr lang="es-ES" i="1" dirty="0"/>
              <a:t>Manual de Convivencia Escolar</a:t>
            </a:r>
            <a:r>
              <a:rPr lang="es-ES" dirty="0"/>
              <a:t>. Ministerio de Educación Nacional de Colombia.</a:t>
            </a:r>
          </a:p>
        </p:txBody>
      </p:sp>
    </p:spTree>
    <p:extLst>
      <p:ext uri="{BB962C8B-B14F-4D97-AF65-F5344CB8AC3E}">
        <p14:creationId xmlns:p14="http://schemas.microsoft.com/office/powerpoint/2010/main" val="421622819"/>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2"/>
        <p:cNvGrpSpPr/>
        <p:nvPr/>
      </p:nvGrpSpPr>
      <p:grpSpPr>
        <a:xfrm>
          <a:off x="0" y="0"/>
          <a:ext cx="0" cy="0"/>
          <a:chOff x="0" y="0"/>
          <a:chExt cx="0" cy="0"/>
        </a:xfrm>
      </p:grpSpPr>
      <p:sp>
        <p:nvSpPr>
          <p:cNvPr id="660" name="Google Shape;660;p22"/>
          <p:cNvSpPr txBox="1"/>
          <p:nvPr/>
        </p:nvSpPr>
        <p:spPr>
          <a:xfrm>
            <a:off x="678450" y="806098"/>
            <a:ext cx="3810000" cy="1169700"/>
          </a:xfrm>
          <a:prstGeom prst="rect">
            <a:avLst/>
          </a:prstGeom>
          <a:noFill/>
          <a:ln>
            <a:noFill/>
          </a:ln>
        </p:spPr>
        <p:txBody>
          <a:bodyPr spcFirstLastPara="1" wrap="square" lIns="91425" tIns="91425" rIns="91425" bIns="91425" anchor="b" anchorCtr="0">
            <a:noAutofit/>
          </a:bodyPr>
          <a:lstStyle/>
          <a:p>
            <a:pPr marL="0" marR="0" lvl="0" indent="0" algn="ctr" rtl="0">
              <a:lnSpc>
                <a:spcPct val="80000"/>
              </a:lnSpc>
              <a:spcBef>
                <a:spcPts val="0"/>
              </a:spcBef>
              <a:spcAft>
                <a:spcPts val="0"/>
              </a:spcAft>
              <a:buClr>
                <a:srgbClr val="000000"/>
              </a:buClr>
              <a:buSzPts val="3800"/>
              <a:buFont typeface="Arial"/>
              <a:buNone/>
            </a:pPr>
            <a:r>
              <a:rPr lang="es-ES" sz="3400" b="0" i="0" u="none" strike="noStrike" cap="none" dirty="0">
                <a:solidFill>
                  <a:srgbClr val="015583"/>
                </a:solidFill>
                <a:latin typeface="Calibri"/>
                <a:ea typeface="Calibri"/>
                <a:cs typeface="Calibri"/>
                <a:sym typeface="Calibri"/>
              </a:rPr>
              <a:t>INTEGRANTES DEL GRUPO</a:t>
            </a:r>
            <a:endParaRPr sz="3400" b="1" i="0" u="none" strike="noStrike" cap="none" dirty="0">
              <a:solidFill>
                <a:srgbClr val="015583"/>
              </a:solidFill>
              <a:latin typeface="Calibri"/>
              <a:ea typeface="Calibri"/>
              <a:cs typeface="Calibri"/>
              <a:sym typeface="Calibri"/>
            </a:endParaRPr>
          </a:p>
        </p:txBody>
      </p:sp>
      <p:sp>
        <p:nvSpPr>
          <p:cNvPr id="661" name="Google Shape;661;p22"/>
          <p:cNvSpPr txBox="1"/>
          <p:nvPr/>
        </p:nvSpPr>
        <p:spPr>
          <a:xfrm>
            <a:off x="762000" y="1821980"/>
            <a:ext cx="3642900" cy="3339345"/>
          </a:xfrm>
          <a:prstGeom prst="rect">
            <a:avLst/>
          </a:prstGeom>
          <a:noFill/>
          <a:ln>
            <a:noFill/>
          </a:ln>
        </p:spPr>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600"/>
              <a:buFont typeface="Arial"/>
              <a:buNone/>
            </a:pPr>
            <a:r>
              <a:rPr lang="es" sz="1700" dirty="0">
                <a:solidFill>
                  <a:srgbClr val="201F4B"/>
                </a:solidFill>
                <a:latin typeface="Calibri"/>
                <a:ea typeface="Calibri"/>
                <a:cs typeface="Calibri"/>
                <a:sym typeface="Calibri"/>
              </a:rPr>
              <a:t>JULIAN ANDRES ARBOLEDA MELGAREJO</a:t>
            </a:r>
          </a:p>
          <a:p>
            <a:pPr marL="0" marR="0" lvl="0" indent="0" rtl="0">
              <a:lnSpc>
                <a:spcPct val="100000"/>
              </a:lnSpc>
              <a:spcBef>
                <a:spcPts val="0"/>
              </a:spcBef>
              <a:spcAft>
                <a:spcPts val="0"/>
              </a:spcAft>
              <a:buClr>
                <a:srgbClr val="000000"/>
              </a:buClr>
              <a:buSzPts val="1600"/>
              <a:buFont typeface="Arial"/>
              <a:buNone/>
            </a:pPr>
            <a:endParaRPr lang="es" sz="1700" dirty="0">
              <a:solidFill>
                <a:srgbClr val="201F4B"/>
              </a:solidFill>
              <a:latin typeface="Calibri"/>
              <a:ea typeface="Calibri"/>
              <a:cs typeface="Calibri"/>
              <a:sym typeface="Calibri"/>
            </a:endParaRPr>
          </a:p>
          <a:p>
            <a:pPr marL="0" marR="0" lvl="0" indent="0" rtl="0">
              <a:lnSpc>
                <a:spcPct val="100000"/>
              </a:lnSpc>
              <a:spcBef>
                <a:spcPts val="0"/>
              </a:spcBef>
              <a:spcAft>
                <a:spcPts val="0"/>
              </a:spcAft>
              <a:buClr>
                <a:srgbClr val="000000"/>
              </a:buClr>
              <a:buSzPts val="1600"/>
              <a:buFont typeface="Arial"/>
              <a:buNone/>
            </a:pPr>
            <a:r>
              <a:rPr lang="es" sz="1700" dirty="0">
                <a:solidFill>
                  <a:srgbClr val="201F4B"/>
                </a:solidFill>
                <a:latin typeface="Calibri"/>
                <a:ea typeface="Calibri"/>
                <a:cs typeface="Calibri"/>
                <a:sym typeface="Calibri"/>
              </a:rPr>
              <a:t>LEVER DAVID CONTRERA MAZO</a:t>
            </a:r>
          </a:p>
          <a:p>
            <a:pPr marL="0" marR="0" lvl="0" indent="0" rtl="0">
              <a:lnSpc>
                <a:spcPct val="100000"/>
              </a:lnSpc>
              <a:spcBef>
                <a:spcPts val="0"/>
              </a:spcBef>
              <a:spcAft>
                <a:spcPts val="0"/>
              </a:spcAft>
              <a:buClr>
                <a:srgbClr val="000000"/>
              </a:buClr>
              <a:buSzPts val="1600"/>
              <a:buFont typeface="Arial"/>
              <a:buNone/>
            </a:pPr>
            <a:endParaRPr lang="es" sz="1700" dirty="0">
              <a:solidFill>
                <a:srgbClr val="201F4B"/>
              </a:solidFill>
              <a:latin typeface="Calibri"/>
              <a:ea typeface="Calibri"/>
              <a:cs typeface="Calibri"/>
              <a:sym typeface="Calibri"/>
            </a:endParaRPr>
          </a:p>
          <a:p>
            <a:pPr marL="0" marR="0" lvl="0" indent="0" rtl="0">
              <a:lnSpc>
                <a:spcPct val="100000"/>
              </a:lnSpc>
              <a:spcBef>
                <a:spcPts val="0"/>
              </a:spcBef>
              <a:spcAft>
                <a:spcPts val="0"/>
              </a:spcAft>
              <a:buClr>
                <a:srgbClr val="000000"/>
              </a:buClr>
              <a:buSzPts val="1600"/>
              <a:buFont typeface="Arial"/>
              <a:buNone/>
            </a:pPr>
            <a:r>
              <a:rPr lang="es" sz="1700" b="0" i="0" u="none" strike="noStrike" cap="none" dirty="0">
                <a:solidFill>
                  <a:srgbClr val="201F4B"/>
                </a:solidFill>
                <a:latin typeface="Calibri"/>
                <a:ea typeface="Calibri"/>
                <a:cs typeface="Calibri"/>
                <a:sym typeface="Calibri"/>
              </a:rPr>
              <a:t>DIEGO ANTONIO RIVERO CARRASCO</a:t>
            </a:r>
          </a:p>
          <a:p>
            <a:pPr marL="0" marR="0" lvl="0" indent="0" rtl="0">
              <a:lnSpc>
                <a:spcPct val="100000"/>
              </a:lnSpc>
              <a:spcBef>
                <a:spcPts val="0"/>
              </a:spcBef>
              <a:spcAft>
                <a:spcPts val="0"/>
              </a:spcAft>
              <a:buClr>
                <a:srgbClr val="000000"/>
              </a:buClr>
              <a:buSzPts val="1600"/>
              <a:buFont typeface="Arial"/>
              <a:buNone/>
            </a:pPr>
            <a:endParaRPr lang="es" sz="1700" dirty="0">
              <a:solidFill>
                <a:srgbClr val="201F4B"/>
              </a:solidFill>
              <a:latin typeface="Calibri"/>
              <a:ea typeface="Calibri"/>
              <a:cs typeface="Calibri"/>
              <a:sym typeface="Calibri"/>
            </a:endParaRPr>
          </a:p>
          <a:p>
            <a:pPr marL="0" marR="0" lvl="0" indent="0" rtl="0">
              <a:lnSpc>
                <a:spcPct val="100000"/>
              </a:lnSpc>
              <a:spcBef>
                <a:spcPts val="0"/>
              </a:spcBef>
              <a:spcAft>
                <a:spcPts val="0"/>
              </a:spcAft>
              <a:buClr>
                <a:srgbClr val="000000"/>
              </a:buClr>
              <a:buSzPts val="1600"/>
              <a:buFont typeface="Arial"/>
              <a:buNone/>
            </a:pPr>
            <a:r>
              <a:rPr lang="es" sz="1700" b="0" i="0" u="none" strike="noStrike" cap="none" dirty="0">
                <a:solidFill>
                  <a:srgbClr val="201F4B"/>
                </a:solidFill>
                <a:latin typeface="Calibri"/>
                <a:ea typeface="Calibri"/>
                <a:cs typeface="Calibri"/>
                <a:sym typeface="Calibri"/>
              </a:rPr>
              <a:t>SEBASTIÁN RODRÍGUEZ CARDONA</a:t>
            </a:r>
          </a:p>
          <a:p>
            <a:pPr marL="0" marR="0" lvl="0" indent="0" algn="just" rtl="0">
              <a:lnSpc>
                <a:spcPct val="100000"/>
              </a:lnSpc>
              <a:spcBef>
                <a:spcPts val="0"/>
              </a:spcBef>
              <a:spcAft>
                <a:spcPts val="0"/>
              </a:spcAft>
              <a:buClr>
                <a:srgbClr val="000000"/>
              </a:buClr>
              <a:buSzPts val="1600"/>
              <a:buFont typeface="Arial"/>
              <a:buNone/>
            </a:pPr>
            <a:endParaRPr lang="es" sz="1700" dirty="0">
              <a:solidFill>
                <a:srgbClr val="201F4B"/>
              </a:solidFill>
              <a:latin typeface="Calibri"/>
              <a:ea typeface="Calibri"/>
              <a:cs typeface="Calibri"/>
              <a:sym typeface="Calibri"/>
            </a:endParaRPr>
          </a:p>
          <a:p>
            <a:pPr>
              <a:buSzPts val="1600"/>
            </a:pPr>
            <a:r>
              <a:rPr lang="es-ES" sz="1700" dirty="0">
                <a:solidFill>
                  <a:srgbClr val="201F4B"/>
                </a:solidFill>
                <a:latin typeface="Calibri"/>
                <a:ea typeface="Calibri"/>
                <a:cs typeface="Calibri"/>
              </a:rPr>
              <a:t>ZULUAGA RIOS ASHLEY SARAY</a:t>
            </a:r>
            <a:endParaRPr lang="es-CO" sz="1700" dirty="0">
              <a:solidFill>
                <a:srgbClr val="201F4B"/>
              </a:solidFill>
              <a:latin typeface="Calibri"/>
              <a:ea typeface="Calibri"/>
              <a:cs typeface="Calibri"/>
            </a:endParaRPr>
          </a:p>
          <a:p>
            <a:pPr marL="0" marR="0" lvl="0" indent="0" algn="just" rtl="0">
              <a:lnSpc>
                <a:spcPct val="100000"/>
              </a:lnSpc>
              <a:spcBef>
                <a:spcPts val="0"/>
              </a:spcBef>
              <a:spcAft>
                <a:spcPts val="0"/>
              </a:spcAft>
              <a:buClr>
                <a:srgbClr val="000000"/>
              </a:buClr>
              <a:buSzPts val="1600"/>
              <a:buFont typeface="Arial"/>
              <a:buNone/>
            </a:pPr>
            <a:endParaRPr lang="es" sz="1700" b="0" i="0" u="none" strike="noStrike" cap="none" dirty="0">
              <a:solidFill>
                <a:srgbClr val="201F4B"/>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600"/>
              <a:buFont typeface="Arial"/>
              <a:buNone/>
            </a:pPr>
            <a:endParaRPr sz="1700" b="0" i="0" u="none" strike="noStrike" cap="none" dirty="0">
              <a:solidFill>
                <a:srgbClr val="201F4B"/>
              </a:solidFill>
              <a:latin typeface="Calibri"/>
              <a:ea typeface="Calibri"/>
              <a:cs typeface="Calibri"/>
              <a:sym typeface="Calibri"/>
            </a:endParaRPr>
          </a:p>
        </p:txBody>
      </p:sp>
      <p:sp>
        <p:nvSpPr>
          <p:cNvPr id="664" name="Google Shape;664;p22"/>
          <p:cNvSpPr txBox="1"/>
          <p:nvPr/>
        </p:nvSpPr>
        <p:spPr>
          <a:xfrm>
            <a:off x="882375" y="3873925"/>
            <a:ext cx="866100" cy="267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s" sz="1900" b="1" i="0" u="none" strike="noStrike" cap="none">
                <a:solidFill>
                  <a:schemeClr val="lt1"/>
                </a:solidFill>
                <a:latin typeface="Arial"/>
                <a:ea typeface="Arial"/>
                <a:cs typeface="Arial"/>
                <a:sym typeface="Arial"/>
              </a:rPr>
              <a:t>XX</a:t>
            </a:r>
            <a:endParaRPr sz="1900" b="1" i="0" u="none" strike="noStrike" cap="none">
              <a:solidFill>
                <a:schemeClr val="lt1"/>
              </a:solidFill>
              <a:latin typeface="Arial"/>
              <a:ea typeface="Arial"/>
              <a:cs typeface="Arial"/>
              <a:sym typeface="Arial"/>
            </a:endParaRPr>
          </a:p>
        </p:txBody>
      </p:sp>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6"/>
        <p:cNvGrpSpPr/>
        <p:nvPr/>
      </p:nvGrpSpPr>
      <p:grpSpPr>
        <a:xfrm>
          <a:off x="0" y="0"/>
          <a:ext cx="0" cy="0"/>
          <a:chOff x="0" y="0"/>
          <a:chExt cx="0" cy="0"/>
        </a:xfrm>
      </p:grpSpPr>
    </p:spTree>
  </p:cSld>
  <p:clrMapOvr>
    <a:masterClrMapping/>
  </p:clrMapOvr>
  <p:transition spd="med">
    <p:pull/>
  </p:transition>
</p:sld>
</file>

<file path=ppt/theme/theme1.xml><?xml version="1.0" encoding="utf-8"?>
<a:theme xmlns:a="http://schemas.openxmlformats.org/drawingml/2006/main" name="Simple Light">
  <a:themeElements>
    <a:clrScheme name="Simple Light">
      <a:dk1>
        <a:srgbClr val="015583"/>
      </a:dk1>
      <a:lt1>
        <a:srgbClr val="FFFFFF"/>
      </a:lt1>
      <a:dk2>
        <a:srgbClr val="434343"/>
      </a:dk2>
      <a:lt2>
        <a:srgbClr val="EEEEEE"/>
      </a:lt2>
      <a:accent1>
        <a:srgbClr val="05ADBC"/>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1646</TotalTime>
  <Words>718</Words>
  <Application>Microsoft Office PowerPoint</Application>
  <PresentationFormat>On-screen Show (16:9)</PresentationFormat>
  <Paragraphs>50</Paragraphs>
  <Slides>10</Slides>
  <Notes>10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5" baseType="lpstr">
      <vt:lpstr>Arial</vt:lpstr>
      <vt:lpstr>Arial Narrow</vt:lpstr>
      <vt:lpstr>Calibri</vt:lpstr>
      <vt:lpstr>Simple Light</vt:lpstr>
      <vt:lpstr>Microsoft Excel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Natalia Andrea Saldarriaga</dc:creator>
  <cp:lastModifiedBy>Diego antonio Rivero carrasco</cp:lastModifiedBy>
  <cp:revision>35</cp:revision>
  <dcterms:modified xsi:type="dcterms:W3CDTF">2025-10-21T21:47:22Z</dcterms:modified>
</cp:coreProperties>
</file>